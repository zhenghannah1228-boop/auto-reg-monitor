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905695" cy="6858000"/>
  <p:notesSz cx="6858000" cy="9905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808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汽车板块 Q4 推广计划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8808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 提案 · 客户增长与线索转化  |  SGS-CSTC· Business Assurance · RMSC · 汽车垂直领域  |  Hannah Zheng  |  2026年10月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8808415" cy="0"/>
          </a:xfrm>
          <a:prstGeom prst="line">
            <a:avLst/>
          </a:prstGeom>
          <a:noFill/>
          <a:ln w="12700">
            <a:solidFill>
              <a:srgbClr val="BCBC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1050" dirty="0"/>
          </a:p>
        </p:txBody>
      </p:sp>
      <p:pic>
        <p:nvPicPr>
          <p:cNvPr id="6" name="Image 0" descr="/tmp/okr_work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30552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15568" y="2148840"/>
            <a:ext cx="256032" cy="256032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5568" y="2148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517904" y="21214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现状与背景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880841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pic>
        <p:nvPicPr>
          <p:cNvPr id="11" name="Image 1" descr="/tmp/okr_work/icons/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43784"/>
            <a:ext cx="438912" cy="4389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15568" y="2862072"/>
            <a:ext cx="256032" cy="256032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115568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517904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总体目标（Objective）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3456432"/>
            <a:ext cx="880841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pic>
        <p:nvPicPr>
          <p:cNvPr id="16" name="Image 2" descr="/tmp/okr_work/icons/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57016"/>
            <a:ext cx="438912" cy="43891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115568" y="3575304"/>
            <a:ext cx="256032" cy="256032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115568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517904" y="35478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关键结果拆解（Key Results）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48640" y="4169664"/>
            <a:ext cx="880841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pic>
        <p:nvPicPr>
          <p:cNvPr id="21" name="Image 3" descr="/tmp/okr_work/icons/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70248"/>
            <a:ext cx="438912" cy="43891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115568" y="4288536"/>
            <a:ext cx="256032" cy="256032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1115568" y="4288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517904" y="42611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月度执行路线图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548640" y="4882896"/>
            <a:ext cx="880841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pic>
        <p:nvPicPr>
          <p:cNvPr id="26" name="Image 4" descr="/tmp/okr_work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983480"/>
            <a:ext cx="438912" cy="43891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1115568" y="5001768"/>
            <a:ext cx="256032" cy="256032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1115568" y="5001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517904" y="49743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协作资源需求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548640" y="5596128"/>
            <a:ext cx="8808415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pic>
        <p:nvPicPr>
          <p:cNvPr id="31" name="Image 5" descr="/tmp/okr_work/icons/checksqua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696712"/>
            <a:ext cx="438912" cy="43891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1115568" y="5715000"/>
            <a:ext cx="256032" cy="256032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1115568" y="5715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517904" y="5687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预期产出与汇报节奏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现状与背景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47672"/>
            <a:ext cx="8808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一点通平台与汽车板块现有基础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pic>
        <p:nvPicPr>
          <p:cNvPr id="5" name="Image 0" descr="/tmp/okr_wor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16" y="2313432"/>
            <a:ext cx="372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已具备的基础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422132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916936"/>
            <a:ext cx="422132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2962656"/>
            <a:ext cx="32004" cy="566928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0" name="Shape 7"/>
          <p:cNvSpPr/>
          <p:nvPr/>
        </p:nvSpPr>
        <p:spPr>
          <a:xfrm>
            <a:off x="694944" y="310438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9536" y="2999232"/>
            <a:ext cx="3800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E-mark / 一点通合规评估工具已上线并持续迭代，具备逐条订阅、认证旅程、成熟度打分等留存设计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69417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" y="373989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4" name="Shape 11"/>
          <p:cNvSpPr/>
          <p:nvPr/>
        </p:nvSpPr>
        <p:spPr>
          <a:xfrm>
            <a:off x="694944" y="388162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" y="377647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《全球及中国汽车法规标准月报》稳定按月产出，形成固定内容触点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261104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4306824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8" name="Shape 15"/>
          <p:cNvSpPr/>
          <p:nvPr/>
        </p:nvSpPr>
        <p:spPr>
          <a:xfrm>
            <a:off x="694944" y="4448556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59536" y="4343400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「汽车制造」系列推广文章周更机制已建立，覆盖一定读者基础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828032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" y="4873752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" y="5015484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59536" y="4910328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与汽研等核心客户已有稳定的法规数据交付合作</a:t>
            </a:r>
            <a:endParaRPr lang="en-US" sz="1150" dirty="0"/>
          </a:p>
        </p:txBody>
      </p:sp>
      <p:pic>
        <p:nvPicPr>
          <p:cNvPr id="24" name="Image 1" descr="/tmp/okr_work/icons/trending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28" y="2331720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629504" y="2313432"/>
            <a:ext cx="372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待突破的环节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135728" y="2788920"/>
            <a:ext cx="422132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135728" y="291693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54016" y="296265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9" name="Shape 25"/>
          <p:cNvSpPr/>
          <p:nvPr/>
        </p:nvSpPr>
        <p:spPr>
          <a:xfrm>
            <a:off x="5282032" y="310438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446624" y="299923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工具试用到付费服务的转化路径尚未系统化追踪，缺少量化基线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5135728" y="3483864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154016" y="3529584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3" name="Shape 29"/>
          <p:cNvSpPr/>
          <p:nvPr/>
        </p:nvSpPr>
        <p:spPr>
          <a:xfrm>
            <a:off x="5282032" y="3671316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5446624" y="3566160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内容触达与工具/咨询入口之间缺少串联，流量未充分转化为线索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5135728" y="4050792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154016" y="4096512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7" name="Shape 33"/>
          <p:cNvSpPr/>
          <p:nvPr/>
        </p:nvSpPr>
        <p:spPr>
          <a:xfrm>
            <a:off x="5282032" y="4238244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5446624" y="4133088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新客户、新市场拓展多为被动响应，缺少主动触达节奏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5135728" y="4617720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154016" y="4663440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1" name="Shape 37"/>
          <p:cNvSpPr/>
          <p:nvPr/>
        </p:nvSpPr>
        <p:spPr>
          <a:xfrm>
            <a:off x="5282032" y="4805172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5446624" y="4700016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行业会议、渠道合作等品牌曝光机会把握较少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4952848" y="2423160"/>
            <a:ext cx="0" cy="38862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总体目标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47672"/>
            <a:ext cx="8808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514600"/>
            <a:ext cx="8808415" cy="1737360"/>
          </a:xfrm>
          <a:prstGeom prst="roundRect">
            <a:avLst>
              <a:gd name="adj" fmla="val 4211"/>
            </a:avLst>
          </a:prstGeom>
          <a:solidFill>
            <a:srgbClr val="FFF6EF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14600"/>
            <a:ext cx="64008" cy="17373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15768"/>
            <a:ext cx="816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· OBJECTIVE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26664"/>
            <a:ext cx="8168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以一点通平台为核心抓手，提升汽车板块客户增长与线索转化能力，为 2027 年规模化获客打基础。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72000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背景说明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5038344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" y="4937760"/>
            <a:ext cx="8588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聚焦客户增长与线索转化作为 Q4 首要目标，兼顾内容影响力与业务拓展两条支撑线。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5422392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" y="5321808"/>
            <a:ext cx="8588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三大方向协同推进：工具获客转化、内容影响力与线索导流、客户增长与业务拓展。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5806440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" y="5705856"/>
            <a:ext cx="8588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采用方向性目标表述，先建立可追踪的基线，再在后续季度迭代量化。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关键结果拆解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47672"/>
            <a:ext cx="8808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 · 三大方向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pic>
        <p:nvPicPr>
          <p:cNvPr id="5" name="Image 0" descr="/tmp/okr_work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2295144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方向①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496312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工具获客与转化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898648"/>
            <a:ext cx="275325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3026664"/>
            <a:ext cx="275325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090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KR1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246120"/>
            <a:ext cx="257037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建立试用→评估→转化的数据追踪基线，识别转化率提升空间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3721608"/>
            <a:ext cx="275325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7856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KR2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941064"/>
            <a:ext cx="257037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推动「预约专家解读」「法规订阅」等转化设计的使用率环比提升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4416552"/>
            <a:ext cx="275325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KR3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636008"/>
            <a:ext cx="257037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新增至少一类专项评估模块，扩大工具覆盖场景</a:t>
            </a:r>
            <a:endParaRPr lang="en-US" sz="950" dirty="0"/>
          </a:p>
        </p:txBody>
      </p:sp>
      <p:pic>
        <p:nvPicPr>
          <p:cNvPr id="18" name="Image 1" descr="/tmp/okr_work/icons/s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218" y="233172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033418" y="2295144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方向②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4033418" y="2496312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内容影响力与线索导流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576218" y="2898648"/>
            <a:ext cx="275325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576218" y="3026664"/>
            <a:ext cx="275325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667658" y="3090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KR1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3667658" y="3246120"/>
            <a:ext cx="257037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月报与推广文章保持稳定产出节奏，阅读与转发量环比提升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576218" y="3721608"/>
            <a:ext cx="275325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3667658" y="37856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KR2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3667658" y="3941064"/>
            <a:ext cx="257037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内容中嵌入工具/咨询入口，打通内容到线索的转化路径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576218" y="4416552"/>
            <a:ext cx="275325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667658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KR3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3667658" y="4636008"/>
            <a:ext cx="257037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试点一种新内容形式（如专题直播），验证导流效果</a:t>
            </a:r>
            <a:endParaRPr lang="en-US" sz="950" dirty="0"/>
          </a:p>
        </p:txBody>
      </p:sp>
      <p:pic>
        <p:nvPicPr>
          <p:cNvPr id="31" name="Image 2" descr="/tmp/okr_wor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797" y="2331720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060997" y="2295144"/>
            <a:ext cx="2296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方向③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7060997" y="2496312"/>
            <a:ext cx="2296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客户增长与业务拓展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6603797" y="2898648"/>
            <a:ext cx="275325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603797" y="3026664"/>
            <a:ext cx="275325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695237" y="3090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KR1</a:t>
            </a:r>
            <a:endParaRPr lang="en-US" sz="850" dirty="0"/>
          </a:p>
        </p:txBody>
      </p:sp>
      <p:sp>
        <p:nvSpPr>
          <p:cNvPr id="37" name="Text 32"/>
          <p:cNvSpPr txBox="1"/>
          <p:nvPr/>
        </p:nvSpPr>
        <p:spPr>
          <a:xfrm>
            <a:off x="6695237" y="3246120"/>
            <a:ext cx="257037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现有核心客户深化合作，推进增量需求对接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603797" y="3721608"/>
            <a:ext cx="275325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695237" y="37856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KR2</a:t>
            </a:r>
            <a:endParaRPr lang="en-US" sz="850" dirty="0"/>
          </a:p>
        </p:txBody>
      </p:sp>
      <p:sp>
        <p:nvSpPr>
          <p:cNvPr id="40" name="Text 35"/>
          <p:cNvSpPr txBox="1"/>
          <p:nvPr/>
        </p:nvSpPr>
        <p:spPr>
          <a:xfrm>
            <a:off x="6695237" y="3941064"/>
            <a:ext cx="257037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主动触达一批新客户/新市场，建立初步合作意向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603797" y="4416552"/>
            <a:ext cx="2753258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695237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KR3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6695237" y="4636008"/>
            <a:ext cx="257037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把握至少一次行业会议或渠道合作机会，扩大品牌曝光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月度执行路线图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47672"/>
            <a:ext cx="8808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分月里程碑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31720"/>
            <a:ext cx="2753258" cy="457200"/>
          </a:xfrm>
          <a:prstGeom prst="roundRect">
            <a:avLst>
              <a:gd name="adj" fmla="val 12000"/>
            </a:avLst>
          </a:prstGeom>
          <a:solidFill>
            <a:srgbClr val="FF66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35224"/>
            <a:ext cx="2753258" cy="37490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971800"/>
            <a:ext cx="27432" cy="3017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3008376"/>
            <a:ext cx="2478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搭建试用→转化数据追踪基线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2753258" cy="37490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456432"/>
            <a:ext cx="27432" cy="3017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3493008"/>
            <a:ext cx="2478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内容嵌入工具入口试点上线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2753258" cy="37490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941064"/>
            <a:ext cx="27432" cy="3017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977640"/>
            <a:ext cx="2478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新客户/新市场名单梳理与首轮触达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76218" y="2331720"/>
            <a:ext cx="2753258" cy="457200"/>
          </a:xfrm>
          <a:prstGeom prst="roundRect">
            <a:avLst>
              <a:gd name="adj" fmla="val 12000"/>
            </a:avLst>
          </a:prstGeom>
          <a:solidFill>
            <a:srgbClr val="FF66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76218" y="23317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76218" y="2935224"/>
            <a:ext cx="2753258" cy="37490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4506" y="2971800"/>
            <a:ext cx="27432" cy="3017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40810" y="3008376"/>
            <a:ext cx="2478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转化设计迭代优化（订阅/专家解读）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76218" y="3419856"/>
            <a:ext cx="2753258" cy="37490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94506" y="3456432"/>
            <a:ext cx="27432" cy="3017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740810" y="3493008"/>
            <a:ext cx="2478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新内容形式（专题直播等）试点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76218" y="3904488"/>
            <a:ext cx="2753258" cy="37490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94506" y="3941064"/>
            <a:ext cx="27432" cy="3017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40810" y="3977640"/>
            <a:ext cx="2478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核心客户深化合作推进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03797" y="2331720"/>
            <a:ext cx="2753258" cy="457200"/>
          </a:xfrm>
          <a:prstGeom prst="roundRect">
            <a:avLst>
              <a:gd name="adj" fmla="val 12000"/>
            </a:avLst>
          </a:prstGeom>
          <a:solidFill>
            <a:srgbClr val="FF66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03797" y="233172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12月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03797" y="2935224"/>
            <a:ext cx="2753258" cy="37490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2085" y="2971800"/>
            <a:ext cx="27432" cy="3017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8389" y="3008376"/>
            <a:ext cx="2478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成果复盘与基线数据验证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03797" y="3419856"/>
            <a:ext cx="2753258" cy="37490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2085" y="3456432"/>
            <a:ext cx="27432" cy="3017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68389" y="3493008"/>
            <a:ext cx="2478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新客户合作意向落地跟进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03797" y="3904488"/>
            <a:ext cx="2753258" cy="374904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22085" y="3941064"/>
            <a:ext cx="27432" cy="301752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8389" y="3977640"/>
            <a:ext cx="24789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年度计划启动筹备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协作资源需求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47672"/>
            <a:ext cx="8808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跨团队协作与支持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pic>
        <p:nvPicPr>
          <p:cNvPr id="5" name="Image 0" descr="/tmp/okr_wor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2416" y="2313432"/>
            <a:ext cx="372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内部协作需求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422132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91693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" y="296265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0" name="Shape 7"/>
          <p:cNvSpPr/>
          <p:nvPr/>
        </p:nvSpPr>
        <p:spPr>
          <a:xfrm>
            <a:off x="694944" y="310438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9536" y="299923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内容团队：支持新内容形式（专题直播/短视频）的策划与制作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483864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" y="3529584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4" name="Shape 11"/>
          <p:cNvSpPr/>
          <p:nvPr/>
        </p:nvSpPr>
        <p:spPr>
          <a:xfrm>
            <a:off x="694944" y="3671316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9536" y="3566160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市场团队：协助新客户触达渠道梳理与行业会议资源对接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050792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4096512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8" name="Shape 15"/>
          <p:cNvSpPr/>
          <p:nvPr/>
        </p:nvSpPr>
        <p:spPr>
          <a:xfrm>
            <a:off x="694944" y="4238244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59536" y="4133088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IT/工具团队：支持试用→转化数据追踪基线的技术搭建</a:t>
            </a:r>
            <a:endParaRPr lang="en-US" sz="1150" dirty="0"/>
          </a:p>
        </p:txBody>
      </p:sp>
      <p:pic>
        <p:nvPicPr>
          <p:cNvPr id="20" name="Image 1" descr="/tmp/okr_work/icons/trending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28" y="2331720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629504" y="2313432"/>
            <a:ext cx="372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风险与应对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135728" y="2788920"/>
            <a:ext cx="4221328" cy="0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135728" y="2916936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154016" y="2962656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5" name="Shape 21"/>
          <p:cNvSpPr/>
          <p:nvPr/>
        </p:nvSpPr>
        <p:spPr>
          <a:xfrm>
            <a:off x="5282032" y="3104388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5446624" y="2999232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转化路径数据追踪尚处起步，Q4 以建立基线为主，不强求量化达成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135728" y="3483864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54016" y="3529584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9" name="Shape 25"/>
          <p:cNvSpPr/>
          <p:nvPr/>
        </p:nvSpPr>
        <p:spPr>
          <a:xfrm>
            <a:off x="5282032" y="3671316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446624" y="3566160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跨团队协作节奏需提前对齐，避免因资源排期影响执行进度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5135728" y="4050792"/>
            <a:ext cx="4221328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154016" y="4096512"/>
            <a:ext cx="32004" cy="356616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3" name="Shape 29"/>
          <p:cNvSpPr/>
          <p:nvPr/>
        </p:nvSpPr>
        <p:spPr>
          <a:xfrm>
            <a:off x="5282032" y="4238244"/>
            <a:ext cx="54864" cy="54864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5446624" y="4133088"/>
            <a:ext cx="38007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新客户拓展周期较长，Q4 以建立意向为目标，落地签约滚动至后续季度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4952848" y="2423160"/>
            <a:ext cx="0" cy="38862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808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预期产出与汇报节奏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47672"/>
            <a:ext cx="8808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63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交付物与同步机制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097280" cy="0"/>
          </a:xfrm>
          <a:prstGeom prst="line">
            <a:avLst/>
          </a:prstGeom>
          <a:noFill/>
          <a:ln w="31750">
            <a:solidFill>
              <a:srgbClr val="FF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31720"/>
            <a:ext cx="8808415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368296"/>
            <a:ext cx="32004" cy="438912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7" name="Image 0" descr="/tmp/okr_wor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42316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331720"/>
            <a:ext cx="798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每月向上级同步关键结果（KR）进展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953512"/>
            <a:ext cx="8808415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2990088"/>
            <a:ext cx="32004" cy="438912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11" name="Image 1" descr="/tmp/okr_wor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0449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2953512"/>
            <a:ext cx="798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末产出完整复盘报告，衔接 2027 年度规划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575304"/>
            <a:ext cx="8808415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6928" y="3611880"/>
            <a:ext cx="32004" cy="438912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15" name="Image 2" descr="/tmp/okr_wor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66674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3575304"/>
            <a:ext cx="798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沉淀可复用的转化追踪与内容导流机制，作为长期能力建设成果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197096"/>
            <a:ext cx="8808415" cy="512064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66928" y="4233672"/>
            <a:ext cx="32004" cy="438912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19" name="Image 3" descr="/tmp/okr_wor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288536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4197096"/>
            <a:ext cx="79854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形成新客户/新市场拓展的首批合作意向清单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0" y="6803136"/>
            <a:ext cx="9905695" cy="54864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991295" y="6510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8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2026-10-15T03:43:40Z</dcterms:created>
  <dcterms:modified xsi:type="dcterms:W3CDTF">2026-10-15T03:43:40Z</dcterms:modified>
</cp:coreProperties>
</file>