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7" r:id="rId8"/>
  </p:sldIdLst>
  <p:sldSz cx="9906000" cy="6858000" type="A4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10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3484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F95D6-5A74-8857-621F-B304E86F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6FED7C-C6DF-C84D-C27F-928912621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0867DE-FB82-069D-98FD-C7628DBF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BB072-5983-FEA7-FAC7-38A302E2F0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5482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CFCBE-45A5-8F40-0BB6-7C8D32884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77DCA-AF44-2533-62C1-89CC76585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9A3D1-5110-E3D8-8D46-EC6578FFC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3F915-4E98-6D28-4B2C-3C14772903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149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e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e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2026年8-9月工作汇报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SGS-CSTC· Business Assurance · RMSC · 汽车垂直领域    |    Hannah Zheng    |    2026年9月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pptx_work/icons/brief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30552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2144" y="2157984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 txBox="1"/>
          <p:nvPr/>
        </p:nvSpPr>
        <p:spPr>
          <a:xfrm>
            <a:off x="1152144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1214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项目情况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2414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计费项目人天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8529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2" name="Image 1" descr="/tmp/pptx_work/icons/to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971800"/>
            <a:ext cx="475488" cy="475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52144" y="2999232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0"/>
          <p:cNvSpPr txBox="1"/>
          <p:nvPr/>
        </p:nvSpPr>
        <p:spPr>
          <a:xfrm>
            <a:off x="1152144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572768" y="29626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572768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一点通汽车法规库建设与工具建设总结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8" name="Image 2" descr="/tmp/pptx_work/icons/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475488" cy="47548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52144" y="3840480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5"/>
          <p:cNvSpPr txBox="1"/>
          <p:nvPr/>
        </p:nvSpPr>
        <p:spPr>
          <a:xfrm>
            <a:off x="1152144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572768" y="38039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40965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8-9月市场与客户支持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8640" y="453542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4" name="Image 3" descr="/tmp/pptx_work/icons/fla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654296"/>
            <a:ext cx="475488" cy="47548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152144" y="4681728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0"/>
          <p:cNvSpPr txBox="1"/>
          <p:nvPr/>
        </p:nvSpPr>
        <p:spPr>
          <a:xfrm>
            <a:off x="1152144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572768" y="46451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1572768" y="4937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4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第一部分 · 项目情况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8-9月计费项目概览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9264" y="2743200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883664" y="274320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901952" y="278892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8" name="Image 0" descr="/tmp/pptx_work/icons/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2834640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93392" y="310896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993392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913632" y="274320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9"/>
          <p:cNvSpPr/>
          <p:nvPr/>
        </p:nvSpPr>
        <p:spPr>
          <a:xfrm>
            <a:off x="3931920" y="278892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" descr="/tmp/pptx_work/icons/p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23360" y="310896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023360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3600" y="274320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3"/>
          <p:cNvSpPr/>
          <p:nvPr/>
        </p:nvSpPr>
        <p:spPr>
          <a:xfrm>
            <a:off x="5961888" y="278892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8" name="Image 2" descr="/tmp/pptx_work/icons/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2834640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053328" y="310896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053328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969264" y="3968496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9月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883664" y="396849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18"/>
          <p:cNvSpPr/>
          <p:nvPr/>
        </p:nvSpPr>
        <p:spPr>
          <a:xfrm>
            <a:off x="1901952" y="401421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24" name="Image 3" descr="/tmp/pptx_work/icons/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4059936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993392" y="433425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993392" y="46451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913632" y="396849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2"/>
          <p:cNvSpPr/>
          <p:nvPr/>
        </p:nvSpPr>
        <p:spPr>
          <a:xfrm>
            <a:off x="3931920" y="401421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29" name="Image 4" descr="/tmp/pptx_work/icons/p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4059936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023360" y="433425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4023360" y="46451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5943600" y="396849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26"/>
          <p:cNvSpPr/>
          <p:nvPr/>
        </p:nvSpPr>
        <p:spPr>
          <a:xfrm>
            <a:off x="5961888" y="401421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4" name="Image 5" descr="/tmp/pptx_work/icons/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4059936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053328" y="433425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999999"/>
                </a:solidFill>
                <a:latin typeface="Georgia" pitchFamily="34" charset="0"/>
              </a:rPr>
              <a:t>19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6053328" y="46451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45" name="Shape 3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3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8月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8月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Image 0" descr="/tmp/pptx_work/icons/e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</a:t>
            </a:r>
            <a:r>
              <a:rPr lang="zh-CN" alt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合规工具优化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自动驾驶评估台新增【AI 法案高风险合规】模块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电气与电动化评估台新增【电池法规 (EU) 2026/1738 循环设计与报废车管理】模块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544068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566927" y="4270248"/>
            <a:ext cx="45719" cy="48006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工具两轮全面排查:一轮改写生硬措辞,二轮排查交互逻辑与数据准确性问题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882896"/>
            <a:ext cx="4221328" cy="548640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6"/>
          <p:cNvSpPr/>
          <p:nvPr/>
        </p:nvSpPr>
        <p:spPr>
          <a:xfrm>
            <a:off x="566928" y="49286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7"/>
          <p:cNvSpPr/>
          <p:nvPr/>
        </p:nvSpPr>
        <p:spPr>
          <a:xfrm>
            <a:off x="694944" y="50703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8"/>
          <p:cNvSpPr txBox="1"/>
          <p:nvPr/>
        </p:nvSpPr>
        <p:spPr>
          <a:xfrm>
            <a:off x="859536" y="49651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altLang="zh-CN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电气与电动化评估台</a:t>
            </a: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电池护照合规自查组据欧盟官方指引扩充完善</a:t>
            </a:r>
            <a:endParaRPr lang="en-US" sz="1150" dirty="0"/>
          </a:p>
        </p:txBody>
      </p:sp>
      <p:pic>
        <p:nvPicPr>
          <p:cNvPr id="32" name="Image 1" descr="/tmp/pptx_work/icons/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</a:t>
            </a:r>
            <a:r>
              <a:rPr lang="zh-CN" alt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更新</a:t>
            </a:r>
            <a:r>
              <a:rPr lang="en-US" sz="1300" b="1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机制常态化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1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2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3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4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全球及中国汽车法规标准月报编制</a:t>
            </a: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(7月刊)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6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7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38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 IT 质检「事件录入模板」优化,固化默认模板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0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1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2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每日数据推送内容人工筛选、上传、模型分析后审校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5135728" y="45171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48"/>
          <p:cNvSpPr/>
          <p:nvPr/>
        </p:nvSpPr>
        <p:spPr>
          <a:xfrm>
            <a:off x="5154016" y="45628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49"/>
          <p:cNvSpPr/>
          <p:nvPr/>
        </p:nvSpPr>
        <p:spPr>
          <a:xfrm>
            <a:off x="5282032" y="47045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0"/>
          <p:cNvSpPr txBox="1"/>
          <p:nvPr/>
        </p:nvSpPr>
        <p:spPr>
          <a:xfrm>
            <a:off x="5446624" y="45994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每日监测数据基线文件归档与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清单更新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135728" y="50657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2"/>
          <p:cNvSpPr/>
          <p:nvPr/>
        </p:nvSpPr>
        <p:spPr>
          <a:xfrm>
            <a:off x="5154016" y="51114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3"/>
          <p:cNvSpPr/>
          <p:nvPr/>
        </p:nvSpPr>
        <p:spPr>
          <a:xfrm>
            <a:off x="5282032" y="52532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4"/>
          <p:cNvSpPr txBox="1"/>
          <p:nvPr/>
        </p:nvSpPr>
        <p:spPr>
          <a:xfrm>
            <a:off x="5446624" y="51480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一点通平台更新法规上传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6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7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9月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9月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Image 0" descr="/tmp/pptx_work/icons/to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新增认证材料模板,用官方原始 PDF 重做真实页面截取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502920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</a:t>
            </a: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大改</a:t>
            </a: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altLang="zh-CN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自查清单</a:t>
            </a:r>
            <a:r>
              <a:rPr lang="en-US" altLang="zh-CN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】</a:t>
            </a: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改为</a:t>
            </a:r>
            <a:r>
              <a:rPr lang="en-US" altLang="zh-CN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涉及材料</a:t>
            </a:r>
            <a:r>
              <a:rPr lang="en-US" altLang="zh-CN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】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，避免和前面步骤产生混淆导致用户产生误解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50792"/>
            <a:ext cx="4221328" cy="502920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566928" y="409651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5"/>
          <p:cNvSpPr/>
          <p:nvPr/>
        </p:nvSpPr>
        <p:spPr>
          <a:xfrm>
            <a:off x="694944" y="42382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 txBox="1"/>
          <p:nvPr/>
        </p:nvSpPr>
        <p:spPr>
          <a:xfrm>
            <a:off x="859536" y="413308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最终导出</a:t>
            </a: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报告:新增</a:t>
            </a: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行动清单页对齐报告结构、末尾补叙述性总结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459943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2"/>
          <p:cNvSpPr/>
          <p:nvPr/>
        </p:nvSpPr>
        <p:spPr>
          <a:xfrm>
            <a:off x="566928" y="464515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3"/>
          <p:cNvSpPr/>
          <p:nvPr/>
        </p:nvSpPr>
        <p:spPr>
          <a:xfrm>
            <a:off x="694944" y="478688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4"/>
          <p:cNvSpPr txBox="1"/>
          <p:nvPr/>
        </p:nvSpPr>
        <p:spPr>
          <a:xfrm>
            <a:off x="859536" y="468172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行动清单按风险等级重构,输出导读总览</a:t>
            </a:r>
            <a:endParaRPr lang="en-US" sz="1150" dirty="0"/>
          </a:p>
        </p:txBody>
      </p:sp>
      <p:pic>
        <p:nvPicPr>
          <p:cNvPr id="28" name="Image 1" descr="/tmp/pptx_work/icons/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</a:t>
            </a:r>
            <a:r>
              <a:rPr lang="zh-CN" alt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更新</a:t>
            </a:r>
            <a:r>
              <a:rPr lang="en-US" sz="1300" b="1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机制常态化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全球及中国汽车法规标准月报编制</a:t>
            </a: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(8月刊)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53035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每日监测自动化流水线运维排查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，</a:t>
            </a: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发现异常并及时报告</a:t>
            </a: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跟进修复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4/7</a:t>
            </a:r>
            <a:endParaRPr lang="en-US" sz="900" dirty="0"/>
          </a:p>
        </p:txBody>
      </p:sp>
      <p:sp>
        <p:nvSpPr>
          <p:cNvPr id="55" name="Text 3">
            <a:extLst>
              <a:ext uri="{FF2B5EF4-FFF2-40B4-BE49-F238E27FC236}">
                <a16:creationId xmlns:a16="http://schemas.microsoft.com/office/drawing/2014/main" id="{79B2B9D3-6B92-4015-FE8C-4D74D10EC7E4}"/>
              </a:ext>
            </a:extLst>
          </p:cNvPr>
          <p:cNvSpPr txBox="1"/>
          <p:nvPr/>
        </p:nvSpPr>
        <p:spPr>
          <a:xfrm>
            <a:off x="1042416" y="2346960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</a:t>
            </a:r>
            <a:r>
              <a:rPr lang="zh-CN" alt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合规工具优化</a:t>
            </a:r>
            <a:endParaRPr lang="en-US" sz="1300" dirty="0"/>
          </a:p>
        </p:txBody>
      </p:sp>
      <p:sp>
        <p:nvSpPr>
          <p:cNvPr id="57" name="Shape 39">
            <a:extLst>
              <a:ext uri="{FF2B5EF4-FFF2-40B4-BE49-F238E27FC236}">
                <a16:creationId xmlns:a16="http://schemas.microsoft.com/office/drawing/2014/main" id="{1D0EABA9-2583-816C-E8AA-8CF4A4C8113B}"/>
              </a:ext>
            </a:extLst>
          </p:cNvPr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40">
            <a:extLst>
              <a:ext uri="{FF2B5EF4-FFF2-40B4-BE49-F238E27FC236}">
                <a16:creationId xmlns:a16="http://schemas.microsoft.com/office/drawing/2014/main" id="{05A5923A-50BA-3C8C-359E-1C12F0554FEA}"/>
              </a:ext>
            </a:extLst>
          </p:cNvPr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1" name="Shape 41">
            <a:extLst>
              <a:ext uri="{FF2B5EF4-FFF2-40B4-BE49-F238E27FC236}">
                <a16:creationId xmlns:a16="http://schemas.microsoft.com/office/drawing/2014/main" id="{BE8A5E1F-1E40-B794-B03E-5465836CA187}"/>
              </a:ext>
            </a:extLst>
          </p:cNvPr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3" name="Text 42">
            <a:extLst>
              <a:ext uri="{FF2B5EF4-FFF2-40B4-BE49-F238E27FC236}">
                <a16:creationId xmlns:a16="http://schemas.microsoft.com/office/drawing/2014/main" id="{0635C38F-A42C-AF0A-75E0-72AC8FD3534B}"/>
              </a:ext>
            </a:extLst>
          </p:cNvPr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每日数据推送内容人工筛选、上传、模型分析后审校</a:t>
            </a:r>
            <a:endParaRPr lang="en-US" sz="1150" dirty="0"/>
          </a:p>
        </p:txBody>
      </p:sp>
      <p:sp>
        <p:nvSpPr>
          <p:cNvPr id="65" name="Shape 47">
            <a:extLst>
              <a:ext uri="{FF2B5EF4-FFF2-40B4-BE49-F238E27FC236}">
                <a16:creationId xmlns:a16="http://schemas.microsoft.com/office/drawing/2014/main" id="{129F6121-D77C-033A-A1E1-5B9616D1EF78}"/>
              </a:ext>
            </a:extLst>
          </p:cNvPr>
          <p:cNvSpPr/>
          <p:nvPr/>
        </p:nvSpPr>
        <p:spPr>
          <a:xfrm>
            <a:off x="5135728" y="45171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Shape 48">
            <a:extLst>
              <a:ext uri="{FF2B5EF4-FFF2-40B4-BE49-F238E27FC236}">
                <a16:creationId xmlns:a16="http://schemas.microsoft.com/office/drawing/2014/main" id="{564F0D0E-BB3F-1AF1-F42A-1AF11137A76B}"/>
              </a:ext>
            </a:extLst>
          </p:cNvPr>
          <p:cNvSpPr/>
          <p:nvPr/>
        </p:nvSpPr>
        <p:spPr>
          <a:xfrm>
            <a:off x="5154016" y="45628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9" name="Shape 49">
            <a:extLst>
              <a:ext uri="{FF2B5EF4-FFF2-40B4-BE49-F238E27FC236}">
                <a16:creationId xmlns:a16="http://schemas.microsoft.com/office/drawing/2014/main" id="{AAE985C1-3E85-8A10-F0FD-1F4EE6D63AA9}"/>
              </a:ext>
            </a:extLst>
          </p:cNvPr>
          <p:cNvSpPr/>
          <p:nvPr/>
        </p:nvSpPr>
        <p:spPr>
          <a:xfrm>
            <a:off x="5282032" y="47045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1" name="Text 50">
            <a:extLst>
              <a:ext uri="{FF2B5EF4-FFF2-40B4-BE49-F238E27FC236}">
                <a16:creationId xmlns:a16="http://schemas.microsoft.com/office/drawing/2014/main" id="{E7D076FC-A47C-B795-EF56-2749D0947F25}"/>
              </a:ext>
            </a:extLst>
          </p:cNvPr>
          <p:cNvSpPr txBox="1"/>
          <p:nvPr/>
        </p:nvSpPr>
        <p:spPr>
          <a:xfrm>
            <a:off x="5446624" y="45994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每日监测数据基线文件归档与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清单更新</a:t>
            </a:r>
            <a:endParaRPr lang="en-US" sz="1150" dirty="0"/>
          </a:p>
        </p:txBody>
      </p:sp>
      <p:sp>
        <p:nvSpPr>
          <p:cNvPr id="73" name="Shape 51">
            <a:extLst>
              <a:ext uri="{FF2B5EF4-FFF2-40B4-BE49-F238E27FC236}">
                <a16:creationId xmlns:a16="http://schemas.microsoft.com/office/drawing/2014/main" id="{D7788AB5-749C-6243-99C3-A2F4C0D34CA0}"/>
              </a:ext>
            </a:extLst>
          </p:cNvPr>
          <p:cNvSpPr/>
          <p:nvPr/>
        </p:nvSpPr>
        <p:spPr>
          <a:xfrm>
            <a:off x="5135728" y="50657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Shape 52">
            <a:extLst>
              <a:ext uri="{FF2B5EF4-FFF2-40B4-BE49-F238E27FC236}">
                <a16:creationId xmlns:a16="http://schemas.microsoft.com/office/drawing/2014/main" id="{D3BAE1B0-DCFE-AEB5-5813-9C30EF5CC0A1}"/>
              </a:ext>
            </a:extLst>
          </p:cNvPr>
          <p:cNvSpPr/>
          <p:nvPr/>
        </p:nvSpPr>
        <p:spPr>
          <a:xfrm>
            <a:off x="5154016" y="51114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7" name="Shape 53">
            <a:extLst>
              <a:ext uri="{FF2B5EF4-FFF2-40B4-BE49-F238E27FC236}">
                <a16:creationId xmlns:a16="http://schemas.microsoft.com/office/drawing/2014/main" id="{B0751844-7545-325F-8E71-79D6D118212F}"/>
              </a:ext>
            </a:extLst>
          </p:cNvPr>
          <p:cNvSpPr/>
          <p:nvPr/>
        </p:nvSpPr>
        <p:spPr>
          <a:xfrm>
            <a:off x="5282032" y="52532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9" name="Text 54">
            <a:extLst>
              <a:ext uri="{FF2B5EF4-FFF2-40B4-BE49-F238E27FC236}">
                <a16:creationId xmlns:a16="http://schemas.microsoft.com/office/drawing/2014/main" id="{C92F7E57-17DD-B47C-2A19-5A52001455C1}"/>
              </a:ext>
            </a:extLst>
          </p:cNvPr>
          <p:cNvSpPr txBox="1"/>
          <p:nvPr/>
        </p:nvSpPr>
        <p:spPr>
          <a:xfrm>
            <a:off x="5446624" y="51480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一点通平台更新法规上传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第三部分 · 市场支持情况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Image 0" descr="/tmp/pptx_work/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法规检索与数据交付(对接汽研)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5"/>
          <p:cNvSpPr/>
          <p:nvPr/>
        </p:nvSpPr>
        <p:spPr>
          <a:xfrm>
            <a:off x="548640" y="291693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/>
          <p:cNvSpPr/>
          <p:nvPr/>
        </p:nvSpPr>
        <p:spPr>
          <a:xfrm>
            <a:off x="566928" y="296265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 txBox="1"/>
          <p:nvPr/>
        </p:nvSpPr>
        <p:spPr>
          <a:xfrm>
            <a:off x="845820" y="2953512"/>
            <a:ext cx="38007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拉美/北美七国(墨西哥/哥伦比亚/巴西/阿根廷/智利/秘鲁/美国/加拿大)充电插头插座标准检索,交付 Excel 数据表 + 原文压缩包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7588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1"/>
          <p:cNvSpPr/>
          <p:nvPr/>
        </p:nvSpPr>
        <p:spPr>
          <a:xfrm>
            <a:off x="694944" y="386334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2"/>
          <p:cNvSpPr txBox="1"/>
          <p:nvPr/>
        </p:nvSpPr>
        <p:spPr>
          <a:xfrm>
            <a:off x="859536" y="375818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核对「清单有原文但未收集」表</a:t>
            </a: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补齐缺失法规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WP29 第199届会议提案作为法规动态线上推送汽研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Q2及Q3海外法规监测工作季度总结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多国法规清单持续补充交付与归类口径答疑</a:t>
            </a:r>
            <a:endParaRPr lang="en-US" sz="1150" dirty="0"/>
          </a:p>
        </p:txBody>
      </p:sp>
      <p:pic>
        <p:nvPicPr>
          <p:cNvPr id="28" name="Image 1" descr="/tmp/pptx_work/icons/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月报分发与内容营销支持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录制【有问必答】视频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「汽车制造」系列推广文章周更审阅(8-9月共10篇)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2026/1738 循环设计法规直播内容制作支持(大纲/PPT)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84BC2E-AC26-DB7E-2A0E-4CDBA0937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1">
            <a:extLst>
              <a:ext uri="{FF2B5EF4-FFF2-40B4-BE49-F238E27FC236}">
                <a16:creationId xmlns:a16="http://schemas.microsoft.com/office/drawing/2014/main" id="{22FB4904-8236-45A5-8667-9EF2A25CCFBA}"/>
              </a:ext>
            </a:extLst>
          </p:cNvPr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AE9A0E51-3A6F-242E-2E50-883101BDAC55}"/>
              </a:ext>
            </a:extLst>
          </p:cNvPr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6/7</a:t>
            </a:r>
            <a:endParaRPr lang="en-US" sz="900" dirty="0"/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2A5CE1C4-51F7-B686-355F-1D757F8CC11E}"/>
              </a:ext>
            </a:extLst>
          </p:cNvPr>
          <p:cNvSpPr txBox="1"/>
          <p:nvPr/>
        </p:nvSpPr>
        <p:spPr>
          <a:xfrm>
            <a:off x="548640" y="1261872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37A7E88D-4AF9-F77D-2939-26CFF3530756}"/>
              </a:ext>
            </a:extLst>
          </p:cNvPr>
          <p:cNvSpPr txBox="1"/>
          <p:nvPr/>
        </p:nvSpPr>
        <p:spPr>
          <a:xfrm>
            <a:off x="548640" y="1517904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E-mark 工具:留存与服务转化设计</a:t>
            </a:r>
            <a:endParaRPr lang="en-US" sz="1900" dirty="0"/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5E1E3C7D-F939-AC52-285E-B56C093387F6}"/>
              </a:ext>
            </a:extLst>
          </p:cNvPr>
          <p:cNvSpPr/>
          <p:nvPr/>
        </p:nvSpPr>
        <p:spPr>
          <a:xfrm>
            <a:off x="548640" y="1856232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F6B70828-4C87-E1EB-696A-3A3856CD99D6}"/>
              </a:ext>
            </a:extLst>
          </p:cNvPr>
          <p:cNvSpPr/>
          <p:nvPr/>
        </p:nvSpPr>
        <p:spPr>
          <a:xfrm>
            <a:off x="4952848" y="2029968"/>
            <a:ext cx="0" cy="4023360"/>
          </a:xfrm>
          <a:prstGeom prst="line">
            <a:avLst/>
          </a:prstGeom>
          <a:noFill/>
          <a:ln w="1270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40C819C9-1C2F-4FFE-E5C1-C83155AC401A}"/>
              </a:ext>
            </a:extLst>
          </p:cNvPr>
          <p:cNvSpPr/>
          <p:nvPr/>
        </p:nvSpPr>
        <p:spPr>
          <a:xfrm>
            <a:off x="548640" y="4041648"/>
            <a:ext cx="8808415" cy="0"/>
          </a:xfrm>
          <a:prstGeom prst="line">
            <a:avLst/>
          </a:prstGeom>
          <a:noFill/>
          <a:ln w="1270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4" name="Image 0" descr="/tmp/pptx_work/screenshots/u1_subscribe.png">
            <a:extLst>
              <a:ext uri="{FF2B5EF4-FFF2-40B4-BE49-F238E27FC236}">
                <a16:creationId xmlns:a16="http://schemas.microsoft.com/office/drawing/2014/main" id="{5C27D378-AA3E-696C-7AEF-FF1896614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139696"/>
            <a:ext cx="1526515" cy="1655064"/>
          </a:xfrm>
          <a:prstGeom prst="rect">
            <a:avLst/>
          </a:prstGeom>
        </p:spPr>
      </p:pic>
      <p:sp>
        <p:nvSpPr>
          <p:cNvPr id="36" name="Text 6">
            <a:extLst>
              <a:ext uri="{FF2B5EF4-FFF2-40B4-BE49-F238E27FC236}">
                <a16:creationId xmlns:a16="http://schemas.microsoft.com/office/drawing/2014/main" id="{DBD60FC6-3183-388C-E85F-E43512438D22}"/>
              </a:ext>
            </a:extLst>
          </p:cNvPr>
          <p:cNvSpPr txBox="1"/>
          <p:nvPr/>
        </p:nvSpPr>
        <p:spPr>
          <a:xfrm>
            <a:off x="2386051" y="2139696"/>
            <a:ext cx="227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法规逐条订阅机制</a:t>
            </a:r>
            <a:endParaRPr lang="en-US" sz="1150" dirty="0"/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95183365-6190-3B3D-9E93-FA7D53ECD55D}"/>
              </a:ext>
            </a:extLst>
          </p:cNvPr>
          <p:cNvSpPr/>
          <p:nvPr/>
        </p:nvSpPr>
        <p:spPr>
          <a:xfrm>
            <a:off x="2386051" y="2560320"/>
            <a:ext cx="36576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264E7189-8C1C-F390-981F-0B07DF37F348}"/>
              </a:ext>
            </a:extLst>
          </p:cNvPr>
          <p:cNvSpPr txBox="1"/>
          <p:nvPr/>
        </p:nvSpPr>
        <p:spPr>
          <a:xfrm>
            <a:off x="2386051" y="2651760"/>
            <a:ext cx="22741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法规盘点页支持按条订阅动态更新,用户建立个性化关注清单,评估完成后仍持续使用平台。</a:t>
            </a:r>
            <a:endParaRPr lang="en-US" sz="950" dirty="0"/>
          </a:p>
        </p:txBody>
      </p:sp>
      <p:pic>
        <p:nvPicPr>
          <p:cNvPr id="42" name="Image 1" descr="/tmp/pptx_work/screenshots/u2_journey.png">
            <a:extLst>
              <a:ext uri="{FF2B5EF4-FFF2-40B4-BE49-F238E27FC236}">
                <a16:creationId xmlns:a16="http://schemas.microsoft.com/office/drawing/2014/main" id="{27B4EC50-59D5-1338-842B-069CC8838E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456" y="2139696"/>
            <a:ext cx="1368023" cy="1655064"/>
          </a:xfrm>
          <a:prstGeom prst="rect">
            <a:avLst/>
          </a:prstGeom>
        </p:spPr>
      </p:pic>
      <p:sp>
        <p:nvSpPr>
          <p:cNvPr id="44" name="Text 10">
            <a:extLst>
              <a:ext uri="{FF2B5EF4-FFF2-40B4-BE49-F238E27FC236}">
                <a16:creationId xmlns:a16="http://schemas.microsoft.com/office/drawing/2014/main" id="{4C4CA02D-154A-D0AA-CFCB-DC432AF8A93A}"/>
              </a:ext>
            </a:extLst>
          </p:cNvPr>
          <p:cNvSpPr txBox="1"/>
          <p:nvPr/>
        </p:nvSpPr>
        <p:spPr>
          <a:xfrm>
            <a:off x="6814647" y="2139696"/>
            <a:ext cx="243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认证旅程九站进度管理</a:t>
            </a:r>
            <a:endParaRPr lang="en-US" sz="1150" dirty="0"/>
          </a:p>
        </p:txBody>
      </p:sp>
      <p:sp>
        <p:nvSpPr>
          <p:cNvPr id="46" name="Shape 11">
            <a:extLst>
              <a:ext uri="{FF2B5EF4-FFF2-40B4-BE49-F238E27FC236}">
                <a16:creationId xmlns:a16="http://schemas.microsoft.com/office/drawing/2014/main" id="{0FB38AEB-651D-DBDE-EC07-19F06BBCA1C3}"/>
              </a:ext>
            </a:extLst>
          </p:cNvPr>
          <p:cNvSpPr/>
          <p:nvPr/>
        </p:nvSpPr>
        <p:spPr>
          <a:xfrm>
            <a:off x="6814647" y="2560320"/>
            <a:ext cx="36576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12">
            <a:extLst>
              <a:ext uri="{FF2B5EF4-FFF2-40B4-BE49-F238E27FC236}">
                <a16:creationId xmlns:a16="http://schemas.microsoft.com/office/drawing/2014/main" id="{B237F426-BFA6-67D5-3680-8422C63CC35B}"/>
              </a:ext>
            </a:extLst>
          </p:cNvPr>
          <p:cNvSpPr txBox="1"/>
          <p:nvPr/>
        </p:nvSpPr>
        <p:spPr>
          <a:xfrm>
            <a:off x="6814647" y="2651760"/>
            <a:ext cx="2432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认证全流程实时显示各站完成情况,阶段性进展吸引用户回访</a:t>
            </a:r>
            <a:r>
              <a:rPr lang="zh-CN" alt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更新</a:t>
            </a: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sz="950" dirty="0"/>
          </a:p>
        </p:txBody>
      </p:sp>
      <p:pic>
        <p:nvPicPr>
          <p:cNvPr id="50" name="Image 2" descr="/tmp/pptx_work/screenshots/u3_maturity.png">
            <a:extLst>
              <a:ext uri="{FF2B5EF4-FFF2-40B4-BE49-F238E27FC236}">
                <a16:creationId xmlns:a16="http://schemas.microsoft.com/office/drawing/2014/main" id="{34FA4553-66B5-4D4F-63C9-B32D324E99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288536"/>
            <a:ext cx="1313236" cy="1655064"/>
          </a:xfrm>
          <a:prstGeom prst="rect">
            <a:avLst/>
          </a:prstGeom>
        </p:spPr>
      </p:pic>
      <p:sp>
        <p:nvSpPr>
          <p:cNvPr id="52" name="Text 14">
            <a:extLst>
              <a:ext uri="{FF2B5EF4-FFF2-40B4-BE49-F238E27FC236}">
                <a16:creationId xmlns:a16="http://schemas.microsoft.com/office/drawing/2014/main" id="{8BAF22DB-F2EA-A880-848B-7E93C26F9CE6}"/>
              </a:ext>
            </a:extLst>
          </p:cNvPr>
          <p:cNvSpPr txBox="1"/>
          <p:nvPr/>
        </p:nvSpPr>
        <p:spPr>
          <a:xfrm>
            <a:off x="2172772" y="4288536"/>
            <a:ext cx="24874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合规成熟度量化评分</a:t>
            </a:r>
            <a:endParaRPr lang="en-US" sz="1150" dirty="0"/>
          </a:p>
        </p:txBody>
      </p:sp>
      <p:sp>
        <p:nvSpPr>
          <p:cNvPr id="54" name="Shape 15">
            <a:extLst>
              <a:ext uri="{FF2B5EF4-FFF2-40B4-BE49-F238E27FC236}">
                <a16:creationId xmlns:a16="http://schemas.microsoft.com/office/drawing/2014/main" id="{84643116-4F25-A83C-EDAB-FE3A2FAD195F}"/>
              </a:ext>
            </a:extLst>
          </p:cNvPr>
          <p:cNvSpPr/>
          <p:nvPr/>
        </p:nvSpPr>
        <p:spPr>
          <a:xfrm>
            <a:off x="2172772" y="4709160"/>
            <a:ext cx="36576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Text 16">
            <a:extLst>
              <a:ext uri="{FF2B5EF4-FFF2-40B4-BE49-F238E27FC236}">
                <a16:creationId xmlns:a16="http://schemas.microsoft.com/office/drawing/2014/main" id="{DE5FCCBE-CEDD-068D-FA36-E95DBD9C25C0}"/>
              </a:ext>
            </a:extLst>
          </p:cNvPr>
          <p:cNvSpPr txBox="1"/>
          <p:nvPr/>
        </p:nvSpPr>
        <p:spPr>
          <a:xfrm>
            <a:off x="2172772" y="4800600"/>
            <a:ext cx="248746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法规完成度与体系成熟度双轴打分,自动定位所在象限,评分变化驱动用户复测跟踪。</a:t>
            </a:r>
            <a:endParaRPr lang="en-US" sz="950" dirty="0"/>
          </a:p>
        </p:txBody>
      </p:sp>
      <p:pic>
        <p:nvPicPr>
          <p:cNvPr id="58" name="Image 3" descr="/tmp/pptx_work/screenshots/u4_gaptable.png">
            <a:extLst>
              <a:ext uri="{FF2B5EF4-FFF2-40B4-BE49-F238E27FC236}">
                <a16:creationId xmlns:a16="http://schemas.microsoft.com/office/drawing/2014/main" id="{ABB2BF70-198A-2125-B15D-837A04B2A5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5456" y="4288536"/>
            <a:ext cx="2134302" cy="1655064"/>
          </a:xfrm>
          <a:prstGeom prst="rect">
            <a:avLst/>
          </a:prstGeom>
        </p:spPr>
      </p:pic>
      <p:sp>
        <p:nvSpPr>
          <p:cNvPr id="60" name="Text 18">
            <a:extLst>
              <a:ext uri="{FF2B5EF4-FFF2-40B4-BE49-F238E27FC236}">
                <a16:creationId xmlns:a16="http://schemas.microsoft.com/office/drawing/2014/main" id="{A0E7CD12-6889-2FD3-35C5-0BFF40633177}"/>
              </a:ext>
            </a:extLst>
          </p:cNvPr>
          <p:cNvSpPr txBox="1"/>
          <p:nvPr/>
        </p:nvSpPr>
        <p:spPr>
          <a:xfrm>
            <a:off x="7580926" y="4288536"/>
            <a:ext cx="166640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缺口分级与服务映射</a:t>
            </a:r>
            <a:endParaRPr lang="en-US" sz="1150" dirty="0"/>
          </a:p>
        </p:txBody>
      </p:sp>
      <p:sp>
        <p:nvSpPr>
          <p:cNvPr id="62" name="Shape 19">
            <a:extLst>
              <a:ext uri="{FF2B5EF4-FFF2-40B4-BE49-F238E27FC236}">
                <a16:creationId xmlns:a16="http://schemas.microsoft.com/office/drawing/2014/main" id="{DE87C6D6-1DE8-EC11-9EDF-5358C1DE2DC1}"/>
              </a:ext>
            </a:extLst>
          </p:cNvPr>
          <p:cNvSpPr/>
          <p:nvPr/>
        </p:nvSpPr>
        <p:spPr>
          <a:xfrm>
            <a:off x="7580926" y="4709160"/>
            <a:ext cx="36576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351132ED-14FF-FF87-FA32-0A480953451E}"/>
              </a:ext>
            </a:extLst>
          </p:cNvPr>
          <p:cNvSpPr txBox="1"/>
          <p:nvPr/>
        </p:nvSpPr>
        <p:spPr>
          <a:xfrm>
            <a:off x="7580926" y="4800600"/>
            <a:ext cx="166640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行动清单按风险等级排序待办事项,每条缺口均对应具体的建议行动与支持服务。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38239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EB798B-84BB-0576-4E29-ADBB79679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5CA9370-1FDD-9A50-8746-33DB36E8DBE4}"/>
              </a:ext>
            </a:extLst>
          </p:cNvPr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第四部分 · 10月工作计划</a:t>
            </a:r>
            <a:endParaRPr lang="en-US" sz="10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78C845-E75F-E745-784F-5A373BEDF5C8}"/>
              </a:ext>
            </a:extLst>
          </p:cNvPr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40AD0D-BE7E-B9DD-801D-581235C964B9}"/>
              </a:ext>
            </a:extLst>
          </p:cNvPr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0EF99AD-B7AA-5B9F-38A5-450A4556B5C1}"/>
              </a:ext>
            </a:extLst>
          </p:cNvPr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31DE12C-9564-C8E4-0111-BC7BAC65BFA1}"/>
              </a:ext>
            </a:extLst>
          </p:cNvPr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/tmp/pptx_work/icons/check.png">
            <a:extLst>
              <a:ext uri="{FF2B5EF4-FFF2-40B4-BE49-F238E27FC236}">
                <a16:creationId xmlns:a16="http://schemas.microsoft.com/office/drawing/2014/main" id="{64985222-4CC5-6D93-F272-4792AAA69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5F99B25B-27CE-EB0D-601B-48CC27DD0A1B}"/>
              </a:ext>
            </a:extLst>
          </p:cNvPr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编制 9 月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全球法规</a:t>
            </a: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</a:t>
            </a:r>
            <a:endParaRPr lang="en-US" sz="11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674F252-C504-5495-D360-0544EB97214B}"/>
              </a:ext>
            </a:extLst>
          </p:cNvPr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6FA80482-E80B-E24B-0DB9-1E0108D23D69}"/>
              </a:ext>
            </a:extLst>
          </p:cNvPr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1" name="Image 1" descr="/tmp/pptx_work/icons/check.png">
            <a:extLst>
              <a:ext uri="{FF2B5EF4-FFF2-40B4-BE49-F238E27FC236}">
                <a16:creationId xmlns:a16="http://schemas.microsoft.com/office/drawing/2014/main" id="{BE8C4B35-FAF4-621D-84B3-FCB48C474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6773FB24-3742-EEB6-5AB9-6AD83896F7FF}"/>
              </a:ext>
            </a:extLst>
          </p:cNvPr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每日法规监测常态化维护</a:t>
            </a:r>
            <a:endParaRPr lang="en-US" sz="115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1BC0358-BACA-299E-DC42-4F2187817A98}"/>
              </a:ext>
            </a:extLst>
          </p:cNvPr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B6FF6F1-7B78-C188-BA5F-6437FFD8101A}"/>
              </a:ext>
            </a:extLst>
          </p:cNvPr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5" name="Image 2" descr="/tmp/pptx_work/icons/check.png">
            <a:extLst>
              <a:ext uri="{FF2B5EF4-FFF2-40B4-BE49-F238E27FC236}">
                <a16:creationId xmlns:a16="http://schemas.microsoft.com/office/drawing/2014/main" id="{8E4BBF49-86A4-45C5-CD9C-E31DABD61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34E8E09E-4171-AC87-6F57-42592B29F542}"/>
              </a:ext>
            </a:extLst>
          </p:cNvPr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</a:t>
            </a: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认证合规工具</a:t>
            </a:r>
            <a:r>
              <a:rPr lang="zh-CN" alt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</a:t>
            </a:r>
            <a:endParaRPr lang="en-US" sz="1150" dirty="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0E891F03-F38C-DDDE-3999-692BBFA17EE2}"/>
              </a:ext>
            </a:extLst>
          </p:cNvPr>
          <p:cNvSpPr/>
          <p:nvPr/>
        </p:nvSpPr>
        <p:spPr>
          <a:xfrm>
            <a:off x="548640" y="421538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19">
            <a:extLst>
              <a:ext uri="{FF2B5EF4-FFF2-40B4-BE49-F238E27FC236}">
                <a16:creationId xmlns:a16="http://schemas.microsoft.com/office/drawing/2014/main" id="{F72C07EC-D8AF-F970-4D96-1068A17C6CD6}"/>
              </a:ext>
            </a:extLst>
          </p:cNvPr>
          <p:cNvSpPr/>
          <p:nvPr/>
        </p:nvSpPr>
        <p:spPr>
          <a:xfrm>
            <a:off x="566928" y="425196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27" name="Image 5" descr="/tmp/pptx_work/icons/check.png">
            <a:extLst>
              <a:ext uri="{FF2B5EF4-FFF2-40B4-BE49-F238E27FC236}">
                <a16:creationId xmlns:a16="http://schemas.microsoft.com/office/drawing/2014/main" id="{B99BC686-DE62-89A2-01A2-2586067FE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306824"/>
            <a:ext cx="329184" cy="329184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0335703E-1906-82E9-BF75-A59A32FC7BC1}"/>
              </a:ext>
            </a:extLst>
          </p:cNvPr>
          <p:cNvSpPr txBox="1"/>
          <p:nvPr/>
        </p:nvSpPr>
        <p:spPr>
          <a:xfrm>
            <a:off x="1188720" y="421538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汽车制造系列推文持续审阅与内容支持</a:t>
            </a:r>
            <a:endParaRPr lang="en-US" sz="1150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AA4882BA-9A7B-C182-519D-39C3828B70F0}"/>
              </a:ext>
            </a:extLst>
          </p:cNvPr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A34F19B2-3449-8896-1942-9DC125B0B1D2}"/>
              </a:ext>
            </a:extLst>
          </p:cNvPr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7/7</a:t>
            </a:r>
            <a:endParaRPr lang="en-US" sz="900" dirty="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0E891F03-F38C-DDDE-3999-692BBFA17EE2}"/>
              </a:ext>
            </a:extLst>
          </p:cNvPr>
          <p:cNvSpPr/>
          <p:nvPr/>
        </p:nvSpPr>
        <p:spPr>
          <a:xfrm>
            <a:off x="548640" y="483717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19">
            <a:extLst>
              <a:ext uri="{FF2B5EF4-FFF2-40B4-BE49-F238E27FC236}">
                <a16:creationId xmlns:a16="http://schemas.microsoft.com/office/drawing/2014/main" id="{F72C07EC-D8AF-F970-4D96-1068A17C6CD6}"/>
              </a:ext>
            </a:extLst>
          </p:cNvPr>
          <p:cNvSpPr/>
          <p:nvPr/>
        </p:nvSpPr>
        <p:spPr>
          <a:xfrm>
            <a:off x="566928" y="487375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27" name="Image 5" descr="/tmp/pptx_work/icons/check.png">
            <a:extLst>
              <a:ext uri="{FF2B5EF4-FFF2-40B4-BE49-F238E27FC236}">
                <a16:creationId xmlns:a16="http://schemas.microsoft.com/office/drawing/2014/main" id="{B99BC686-DE62-89A2-01A2-2586067FE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928616"/>
            <a:ext cx="329184" cy="329184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0335703E-1906-82E9-BF75-A59A32FC7BC1}"/>
              </a:ext>
            </a:extLst>
          </p:cNvPr>
          <p:cNvSpPr txBox="1"/>
          <p:nvPr/>
        </p:nvSpPr>
        <p:spPr>
          <a:xfrm>
            <a:off x="1188720" y="483717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WP29 法规动态持续跟踪与推送</a:t>
            </a:r>
            <a:endParaRPr lang="en-US" sz="1150" dirty="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0E891F03-F38C-DDDE-3999-692BBFA17EE2}"/>
              </a:ext>
            </a:extLst>
          </p:cNvPr>
          <p:cNvSpPr/>
          <p:nvPr/>
        </p:nvSpPr>
        <p:spPr>
          <a:xfrm>
            <a:off x="548640" y="5458968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19">
            <a:extLst>
              <a:ext uri="{FF2B5EF4-FFF2-40B4-BE49-F238E27FC236}">
                <a16:creationId xmlns:a16="http://schemas.microsoft.com/office/drawing/2014/main" id="{F72C07EC-D8AF-F970-4D96-1068A17C6CD6}"/>
              </a:ext>
            </a:extLst>
          </p:cNvPr>
          <p:cNvSpPr/>
          <p:nvPr/>
        </p:nvSpPr>
        <p:spPr>
          <a:xfrm>
            <a:off x="566928" y="5495544"/>
            <a:ext cx="32004" cy="438912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27" name="Image 5" descr="/tmp/pptx_work/icons/check.png">
            <a:extLst>
              <a:ext uri="{FF2B5EF4-FFF2-40B4-BE49-F238E27FC236}">
                <a16:creationId xmlns:a16="http://schemas.microsoft.com/office/drawing/2014/main" id="{B99BC686-DE62-89A2-01A2-2586067FE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550408"/>
            <a:ext cx="329184" cy="329184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0335703E-1906-82E9-BF75-A59A32FC7BC1}"/>
              </a:ext>
            </a:extLst>
          </p:cNvPr>
          <p:cNvSpPr txBox="1"/>
          <p:nvPr/>
        </p:nvSpPr>
        <p:spPr>
          <a:xfrm>
            <a:off x="1188720" y="5458968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2026/1738 循环设计法规后续动态跟踪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195397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429</Words>
  <Application>Microsoft Office PowerPoint</Application>
  <PresentationFormat>A4 纸张(210x297 毫米)</PresentationFormat>
  <Paragraphs>98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Zheng, Hannah (Tianjin)</cp:lastModifiedBy>
  <cp:revision>5</cp:revision>
  <dcterms:created xsi:type="dcterms:W3CDTF">2026-09-23T03:09:49Z</dcterms:created>
  <dcterms:modified xsi:type="dcterms:W3CDTF">2026-09-23T08:32:48Z</dcterms:modified>
</cp:coreProperties>
</file>