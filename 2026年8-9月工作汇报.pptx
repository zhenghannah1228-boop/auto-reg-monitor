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905695" cy="6858000"/>
  <p:notesSz cx="6858000" cy="9905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2.png"/><Relationship Id="rId6" Type="http://schemas.openxmlformats.org/officeDocument/2006/relationships/image" Target="../media/image-2-3.png"/><Relationship Id="rId7" Type="http://schemas.openxmlformats.org/officeDocument/2006/relationships/image" Target="../media/image-2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2.png"/><Relationship Id="rId4" Type="http://schemas.openxmlformats.org/officeDocument/2006/relationships/image" Target="../media/image-6-2.png"/><Relationship Id="rId5" Type="http://schemas.openxmlformats.org/officeDocument/2006/relationships/image" Target="../media/image-6-2.png"/><Relationship Id="rId6" Type="http://schemas.openxmlformats.org/officeDocument/2006/relationships/image" Target="../media/image-6-2.png"/><Relationship Id="rId7" Type="http://schemas.openxmlformats.org/officeDocument/2006/relationships/image" Target="../media/image-6-2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808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2026年8-9月工作汇报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8808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SGS-CSTC· Business Assurance · RMSC · 汽车垂直领域    |    Hannah Zheng    |    2026年9月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8808415" cy="0"/>
          </a:xfrm>
          <a:prstGeom prst="line">
            <a:avLst/>
          </a:prstGeom>
          <a:noFill/>
          <a:ln w="12700">
            <a:solidFill>
              <a:srgbClr val="BCBCB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007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1050" dirty="0"/>
          </a:p>
        </p:txBody>
      </p:sp>
      <p:pic>
        <p:nvPicPr>
          <p:cNvPr id="6" name="Image 0" descr="/tmp/pptx_work/icons/briefc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30552"/>
            <a:ext cx="475488" cy="47548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52144" y="2157984"/>
            <a:ext cx="274320" cy="274320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152144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1572768" y="212140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项目情况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572768" y="241401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计费项目人天、利用率、亮点与问题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48640" y="2852928"/>
            <a:ext cx="8808415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pic>
        <p:nvPicPr>
          <p:cNvPr id="12" name="Image 1" descr="/tmp/pptx_work/icons/too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71800"/>
            <a:ext cx="475488" cy="47548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1152144" y="2999232"/>
            <a:ext cx="274320" cy="274320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1152144" y="2999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1572768" y="2962656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非项目情况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1572768" y="32552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一点通汽车法规库建设与工具建设总结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548640" y="3694176"/>
            <a:ext cx="8808415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pic>
        <p:nvPicPr>
          <p:cNvPr id="18" name="Image 2" descr="/tmp/pptx_work/icons/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813048"/>
            <a:ext cx="475488" cy="475488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1152144" y="3840480"/>
            <a:ext cx="274320" cy="274320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1152144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1572768" y="3803904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市场支持情况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1572768" y="409651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8-9月市场与客户支持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548640" y="4535424"/>
            <a:ext cx="8808415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pic>
        <p:nvPicPr>
          <p:cNvPr id="24" name="Image 3" descr="/tmp/pptx_work/icons/fla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654296"/>
            <a:ext cx="475488" cy="475488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1152144" y="4681728"/>
            <a:ext cx="274320" cy="274320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1152144" y="4681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1572768" y="4645152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10月工作计划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1572768" y="49377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第一部分 · 项目情况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8-9月计费项目概览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331720"/>
            <a:ext cx="8229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8月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463040" y="2331720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81328" y="2377440"/>
            <a:ext cx="32004" cy="932688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8" name="Image 0" descr="/tmp/pptx_work/icons/calend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2768" y="2423160"/>
            <a:ext cx="256032" cy="2560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72768" y="269748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572768" y="3008376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计费天数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493008" y="2331720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511296" y="2377440"/>
            <a:ext cx="32004" cy="932688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13" name="Image 1" descr="/tmp/pptx_work/icons/p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2736" y="2423160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602736" y="269748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3602736" y="3008376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利用率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522976" y="2331720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541264" y="2377440"/>
            <a:ext cx="32004" cy="932688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18" name="Image 2" descr="/tmp/pptx_work/icons/c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2704" y="2423160"/>
            <a:ext cx="256032" cy="25603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632704" y="269748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5632704" y="3008376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非计费人天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3557016"/>
            <a:ext cx="8229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9月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1463040" y="3557016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1481328" y="3602736"/>
            <a:ext cx="32004" cy="932688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24" name="Image 3" descr="/tmp/pptx_work/icons/calenda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2768" y="3648456"/>
            <a:ext cx="256032" cy="25603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572768" y="3922776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1572768" y="423367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计费天数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3493008" y="3557016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3511296" y="3602736"/>
            <a:ext cx="32004" cy="932688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29" name="Image 4" descr="/tmp/pptx_work/icons/pi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02736" y="3648456"/>
            <a:ext cx="256032" cy="25603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3602736" y="3922776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800" dirty="0"/>
          </a:p>
        </p:txBody>
      </p:sp>
      <p:sp>
        <p:nvSpPr>
          <p:cNvPr id="31" name="Text 24"/>
          <p:cNvSpPr txBox="1"/>
          <p:nvPr/>
        </p:nvSpPr>
        <p:spPr>
          <a:xfrm>
            <a:off x="3602736" y="423367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利用率</a:t>
            </a:r>
            <a:endParaRPr lang="en-US" sz="1000" dirty="0"/>
          </a:p>
        </p:txBody>
      </p:sp>
      <p:sp>
        <p:nvSpPr>
          <p:cNvPr id="32" name="Shape 25"/>
          <p:cNvSpPr/>
          <p:nvPr/>
        </p:nvSpPr>
        <p:spPr>
          <a:xfrm>
            <a:off x="5522976" y="3557016"/>
            <a:ext cx="1847088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5541264" y="3602736"/>
            <a:ext cx="32004" cy="932688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34" name="Image 5" descr="/tmp/pptx_work/icons/cloc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32704" y="3648456"/>
            <a:ext cx="256032" cy="25603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5632704" y="3922776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999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</a:t>
            </a:r>
            <a:endParaRPr lang="en-US" sz="1800" dirty="0"/>
          </a:p>
        </p:txBody>
      </p:sp>
      <p:sp>
        <p:nvSpPr>
          <p:cNvPr id="36" name="Text 28"/>
          <p:cNvSpPr txBox="1"/>
          <p:nvPr/>
        </p:nvSpPr>
        <p:spPr>
          <a:xfrm>
            <a:off x="5632704" y="423367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非计费人天</a:t>
            </a:r>
            <a:endParaRPr lang="en-US" sz="1000" dirty="0"/>
          </a:p>
        </p:txBody>
      </p:sp>
      <p:sp>
        <p:nvSpPr>
          <p:cNvPr id="37" name="Shape 29"/>
          <p:cNvSpPr/>
          <p:nvPr/>
        </p:nvSpPr>
        <p:spPr>
          <a:xfrm>
            <a:off x="548640" y="4910328"/>
            <a:ext cx="4289908" cy="150876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566928" y="4956048"/>
            <a:ext cx="32004" cy="141732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731520" y="5038344"/>
            <a:ext cx="3924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亮点项目</a:t>
            </a:r>
            <a:endParaRPr lang="en-US" sz="1250" dirty="0"/>
          </a:p>
        </p:txBody>
      </p:sp>
      <p:sp>
        <p:nvSpPr>
          <p:cNvPr id="40" name="Text 32"/>
          <p:cNvSpPr txBox="1"/>
          <p:nvPr/>
        </p:nvSpPr>
        <p:spPr>
          <a:xfrm>
            <a:off x="731520" y="5367528"/>
            <a:ext cx="39241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【待补充:8-9月计费项目的亮点/关键交付】</a:t>
            </a:r>
            <a:endParaRPr lang="en-US" sz="1050" dirty="0"/>
          </a:p>
        </p:txBody>
      </p:sp>
      <p:sp>
        <p:nvSpPr>
          <p:cNvPr id="41" name="Shape 33"/>
          <p:cNvSpPr/>
          <p:nvPr/>
        </p:nvSpPr>
        <p:spPr>
          <a:xfrm>
            <a:off x="5067148" y="4910328"/>
            <a:ext cx="4289908" cy="150876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5085436" y="4956048"/>
            <a:ext cx="32004" cy="141732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3" name="Text 35"/>
          <p:cNvSpPr txBox="1"/>
          <p:nvPr/>
        </p:nvSpPr>
        <p:spPr>
          <a:xfrm>
            <a:off x="5250028" y="5038344"/>
            <a:ext cx="3924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项目问题及解决</a:t>
            </a:r>
            <a:endParaRPr lang="en-US" sz="1250" dirty="0"/>
          </a:p>
        </p:txBody>
      </p:sp>
      <p:sp>
        <p:nvSpPr>
          <p:cNvPr id="44" name="Text 36"/>
          <p:cNvSpPr txBox="1"/>
          <p:nvPr/>
        </p:nvSpPr>
        <p:spPr>
          <a:xfrm>
            <a:off x="5250028" y="5367528"/>
            <a:ext cx="39241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【待补充:项目推进中遇到的问题与应对】</a:t>
            </a:r>
            <a:endParaRPr lang="en-US" sz="1050" dirty="0"/>
          </a:p>
        </p:txBody>
      </p:sp>
      <p:sp>
        <p:nvSpPr>
          <p:cNvPr id="45" name="Shape 37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6" name="Text 38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第二部分 · 非项目情况 · 8月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非项目情况 · 8月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pic>
        <p:nvPicPr>
          <p:cNvPr id="5" name="Image 0" descr="/tmp/pptx_work/icons/e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42416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E-mark 工具与法规数据深化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9169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29626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0" name="Shape 7"/>
          <p:cNvSpPr/>
          <p:nvPr/>
        </p:nvSpPr>
        <p:spPr>
          <a:xfrm>
            <a:off x="694944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9536" y="29992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自动驾驶评估台新增【AI 法案高风险合规】模块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3465576"/>
            <a:ext cx="4221328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3511296"/>
            <a:ext cx="32004" cy="566928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4" name="Shape 11"/>
          <p:cNvSpPr/>
          <p:nvPr/>
        </p:nvSpPr>
        <p:spPr>
          <a:xfrm>
            <a:off x="694944" y="365302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9536" y="3547872"/>
            <a:ext cx="38007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电气与电动化评估台新增【电池法规 (EU) 2026/1738 循环设计与报废车管理】模块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422452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6928" y="427024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8" name="Shape 15"/>
          <p:cNvSpPr/>
          <p:nvPr/>
        </p:nvSpPr>
        <p:spPr>
          <a:xfrm>
            <a:off x="694944" y="441198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9536" y="430682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E-mark 工具两轮全面排查:一轮改写生硬措辞,二轮排查交互逻辑与数据准确性问题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48640" y="477316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6928" y="481888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2" name="Shape 19"/>
          <p:cNvSpPr/>
          <p:nvPr/>
        </p:nvSpPr>
        <p:spPr>
          <a:xfrm>
            <a:off x="694944" y="496062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59536" y="485546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认证金字塔 B/C 档 16 国数据系统性复核与纠错(拉美/北非/东非/独联体)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48640" y="532180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66928" y="536752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6" name="Shape 23"/>
          <p:cNvSpPr/>
          <p:nvPr/>
        </p:nvSpPr>
        <p:spPr>
          <a:xfrm>
            <a:off x="694944" y="550926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59536" y="540410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五个评估工具全部接入「一点通」平台法规链接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48640" y="587044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66928" y="591616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0" name="Shape 27"/>
          <p:cNvSpPr/>
          <p:nvPr/>
        </p:nvSpPr>
        <p:spPr>
          <a:xfrm>
            <a:off x="694944" y="605790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59536" y="595274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电池护照合规自查组据欧盟官方指引扩充完善</a:t>
            </a:r>
            <a:endParaRPr lang="en-US" sz="1150" dirty="0"/>
          </a:p>
        </p:txBody>
      </p:sp>
      <p:pic>
        <p:nvPicPr>
          <p:cNvPr id="32" name="Image 1" descr="/tmp/pptx_work/icons/calend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5728" y="2331720"/>
            <a:ext cx="384048" cy="384048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5629504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每日监测与月报机制常态化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5135728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135728" y="29169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154016" y="29626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7" name="Shape 33"/>
          <p:cNvSpPr/>
          <p:nvPr/>
        </p:nvSpPr>
        <p:spPr>
          <a:xfrm>
            <a:off x="5282032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5446624" y="29992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《全球及中国汽车法规标准月报》编制(7月刊)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5135728" y="346557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5154016" y="351129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1" name="Shape 37"/>
          <p:cNvSpPr/>
          <p:nvPr/>
        </p:nvSpPr>
        <p:spPr>
          <a:xfrm>
            <a:off x="5282032" y="365302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5446624" y="354787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配合 IT 质检「事件录入模板」优化,固化默认模板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5135728" y="401421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154016" y="405993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5" name="Shape 41"/>
          <p:cNvSpPr/>
          <p:nvPr/>
        </p:nvSpPr>
        <p:spPr>
          <a:xfrm>
            <a:off x="5282032" y="420166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46" name="Text 42"/>
          <p:cNvSpPr txBox="1"/>
          <p:nvPr/>
        </p:nvSpPr>
        <p:spPr>
          <a:xfrm>
            <a:off x="5446624" y="409651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7月月报定稿:补入中国国内标准动态后归档</a:t>
            </a:r>
            <a:endParaRPr lang="en-US" sz="1150" dirty="0"/>
          </a:p>
        </p:txBody>
      </p:sp>
      <p:sp>
        <p:nvSpPr>
          <p:cNvPr id="47" name="Shape 43"/>
          <p:cNvSpPr/>
          <p:nvPr/>
        </p:nvSpPr>
        <p:spPr>
          <a:xfrm>
            <a:off x="5135728" y="456285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5154016" y="460857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9" name="Shape 45"/>
          <p:cNvSpPr/>
          <p:nvPr/>
        </p:nvSpPr>
        <p:spPr>
          <a:xfrm>
            <a:off x="5282032" y="475030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50" name="Text 46"/>
          <p:cNvSpPr txBox="1"/>
          <p:nvPr/>
        </p:nvSpPr>
        <p:spPr>
          <a:xfrm>
            <a:off x="5446624" y="464515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内部数据台账建设:建立待复核项跟踪机制并批量核实积压数据</a:t>
            </a:r>
            <a:endParaRPr lang="en-US" sz="1150" dirty="0"/>
          </a:p>
        </p:txBody>
      </p:sp>
      <p:sp>
        <p:nvSpPr>
          <p:cNvPr id="51" name="Shape 47"/>
          <p:cNvSpPr/>
          <p:nvPr/>
        </p:nvSpPr>
        <p:spPr>
          <a:xfrm>
            <a:off x="5135728" y="511149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5154016" y="515721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53" name="Shape 49"/>
          <p:cNvSpPr/>
          <p:nvPr/>
        </p:nvSpPr>
        <p:spPr>
          <a:xfrm>
            <a:off x="5282032" y="529894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54" name="Text 50"/>
          <p:cNvSpPr txBox="1"/>
          <p:nvPr/>
        </p:nvSpPr>
        <p:spPr>
          <a:xfrm>
            <a:off x="5446624" y="519379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每日监测数据基线文件归档与持久化管理</a:t>
            </a:r>
            <a:endParaRPr lang="en-US" sz="1150" dirty="0"/>
          </a:p>
        </p:txBody>
      </p:sp>
      <p:sp>
        <p:nvSpPr>
          <p:cNvPr id="55" name="Shape 51"/>
          <p:cNvSpPr/>
          <p:nvPr/>
        </p:nvSpPr>
        <p:spPr>
          <a:xfrm>
            <a:off x="5135728" y="56601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5154016" y="57058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57" name="Shape 53"/>
          <p:cNvSpPr/>
          <p:nvPr/>
        </p:nvSpPr>
        <p:spPr>
          <a:xfrm>
            <a:off x="5282032" y="58475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58" name="Text 54"/>
          <p:cNvSpPr txBox="1"/>
          <p:nvPr/>
        </p:nvSpPr>
        <p:spPr>
          <a:xfrm>
            <a:off x="5446624" y="57424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工具页面信息架构统一整理</a:t>
            </a:r>
            <a:endParaRPr lang="en-US" sz="1150" dirty="0"/>
          </a:p>
        </p:txBody>
      </p:sp>
      <p:sp>
        <p:nvSpPr>
          <p:cNvPr id="59" name="Shape 55"/>
          <p:cNvSpPr/>
          <p:nvPr/>
        </p:nvSpPr>
        <p:spPr>
          <a:xfrm>
            <a:off x="4952848" y="2423160"/>
            <a:ext cx="0" cy="388620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第二部分 · 非项目情况 · 9月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非项目情况 · 9月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pic>
        <p:nvPicPr>
          <p:cNvPr id="5" name="Image 0" descr="/tmp/pptx_work/icons/to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42416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认证旅程升级 · 界面与数据修复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9169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29626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0" name="Shape 7"/>
          <p:cNvSpPr/>
          <p:nvPr/>
        </p:nvSpPr>
        <p:spPr>
          <a:xfrm>
            <a:off x="694944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9536" y="29992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新增认证材料模板,用官方原始 PDF 重做真实页面截取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346557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351129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4" name="Shape 11"/>
          <p:cNvSpPr/>
          <p:nvPr/>
        </p:nvSpPr>
        <p:spPr>
          <a:xfrm>
            <a:off x="694944" y="365302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9536" y="354787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5 大改:③⑤⑥站行动计划改为统计摘要,避免重复铺陈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401421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6928" y="405993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8" name="Shape 15"/>
          <p:cNvSpPr/>
          <p:nvPr/>
        </p:nvSpPr>
        <p:spPr>
          <a:xfrm>
            <a:off x="694944" y="420166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9536" y="409651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报告能力增强:新增 Word 导出、行动清单页对齐报告结构、末尾补叙述性总结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48640" y="456285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6928" y="460857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2" name="Shape 19"/>
          <p:cNvSpPr/>
          <p:nvPr/>
        </p:nvSpPr>
        <p:spPr>
          <a:xfrm>
            <a:off x="694944" y="475030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59536" y="464515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认证旅程 10+ 项交互细节修复:官方链接/模板下载/打印样式等逐项打磨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48640" y="511149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66928" y="515721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6" name="Shape 23"/>
          <p:cNvSpPr/>
          <p:nvPr/>
        </p:nvSpPr>
        <p:spPr>
          <a:xfrm>
            <a:off x="694944" y="529894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59536" y="519379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行动清单按风险等级重构,输出导读总览</a:t>
            </a:r>
            <a:endParaRPr lang="en-US" sz="1150" dirty="0"/>
          </a:p>
        </p:txBody>
      </p:sp>
      <p:pic>
        <p:nvPicPr>
          <p:cNvPr id="28" name="Image 1" descr="/tmp/pptx_work/icons/calend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5728" y="2331720"/>
            <a:ext cx="384048" cy="384048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5629504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每日监测与月报机制常态化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5135728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135728" y="29169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154016" y="29626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3" name="Shape 29"/>
          <p:cNvSpPr/>
          <p:nvPr/>
        </p:nvSpPr>
        <p:spPr>
          <a:xfrm>
            <a:off x="5282032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5446624" y="29992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《全球及中国汽车法规标准月报》编制(8月刊)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5135728" y="346557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154016" y="351129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7" name="Shape 33"/>
          <p:cNvSpPr/>
          <p:nvPr/>
        </p:nvSpPr>
        <p:spPr>
          <a:xfrm>
            <a:off x="5282032" y="365302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5446624" y="354787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每日监测自动化流水线运维排查:多次发现异常并及时报告 IT 跟进修复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5135728" y="401421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5154016" y="405993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1" name="Shape 37"/>
          <p:cNvSpPr/>
          <p:nvPr/>
        </p:nvSpPr>
        <p:spPr>
          <a:xfrm>
            <a:off x="5282032" y="420166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5446624" y="409651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8月月报多轮口径校准:并入中国国内月报 70 项标准动态后定稿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5135728" y="456285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154016" y="460857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5" name="Shape 41"/>
          <p:cNvSpPr/>
          <p:nvPr/>
        </p:nvSpPr>
        <p:spPr>
          <a:xfrm>
            <a:off x="5282032" y="475030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46" name="Text 42"/>
          <p:cNvSpPr txBox="1"/>
          <p:nvPr/>
        </p:nvSpPr>
        <p:spPr>
          <a:xfrm>
            <a:off x="5446624" y="464515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合规成熟度矩阵改版:白底常显,象限优先建议更聚焦</a:t>
            </a:r>
            <a:endParaRPr lang="en-US" sz="1150" dirty="0"/>
          </a:p>
        </p:txBody>
      </p:sp>
      <p:sp>
        <p:nvSpPr>
          <p:cNvPr id="47" name="Shape 43"/>
          <p:cNvSpPr/>
          <p:nvPr/>
        </p:nvSpPr>
        <p:spPr>
          <a:xfrm>
            <a:off x="5135728" y="511149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5154016" y="515721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9" name="Shape 45"/>
          <p:cNvSpPr/>
          <p:nvPr/>
        </p:nvSpPr>
        <p:spPr>
          <a:xfrm>
            <a:off x="5282032" y="529894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50" name="Text 46"/>
          <p:cNvSpPr txBox="1"/>
          <p:nvPr/>
        </p:nvSpPr>
        <p:spPr>
          <a:xfrm>
            <a:off x="5446624" y="519379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每日监测数据基线持续归档维护</a:t>
            </a:r>
            <a:endParaRPr lang="en-US" sz="1150" dirty="0"/>
          </a:p>
        </p:txBody>
      </p:sp>
      <p:sp>
        <p:nvSpPr>
          <p:cNvPr id="51" name="Shape 47"/>
          <p:cNvSpPr/>
          <p:nvPr/>
        </p:nvSpPr>
        <p:spPr>
          <a:xfrm>
            <a:off x="4952848" y="2423160"/>
            <a:ext cx="0" cy="388620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第三部分 · 市场支持情况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市场支持情况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pic>
        <p:nvPicPr>
          <p:cNvPr id="5" name="Image 0" descr="/tmp/pptx_work/icons/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42416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法规检索与数据交付(对接汽研)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916936"/>
            <a:ext cx="4221328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2962656"/>
            <a:ext cx="32004" cy="566928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0" name="Shape 7"/>
          <p:cNvSpPr/>
          <p:nvPr/>
        </p:nvSpPr>
        <p:spPr>
          <a:xfrm>
            <a:off x="694944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9536" y="2999232"/>
            <a:ext cx="38007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拉美/北美七国(墨西哥/哥伦比亚/巴西/阿根廷/智利/秘鲁/美国/加拿大)充电插头插座标准检索,交付 Excel 数据表 + 原文压缩包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367588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372160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4" name="Shape 11"/>
          <p:cNvSpPr/>
          <p:nvPr/>
        </p:nvSpPr>
        <p:spPr>
          <a:xfrm>
            <a:off x="694944" y="386334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9536" y="375818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核对「清单有原文但未收集」表,澄清数量差异(废止/合并共6条)原因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422452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6928" y="427024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18" name="Shape 15"/>
          <p:cNvSpPr/>
          <p:nvPr/>
        </p:nvSpPr>
        <p:spPr>
          <a:xfrm>
            <a:off x="694944" y="441198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9536" y="430682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WP29 第199届会议提案作为法规动态线上推送汽研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48640" y="477316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6928" y="481888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2" name="Shape 19"/>
          <p:cNvSpPr/>
          <p:nvPr/>
        </p:nvSpPr>
        <p:spPr>
          <a:xfrm>
            <a:off x="694944" y="496062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59536" y="485546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Q2及Q3海外法规监测工作季度总结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48640" y="5321808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66928" y="5367528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26" name="Shape 23"/>
          <p:cNvSpPr/>
          <p:nvPr/>
        </p:nvSpPr>
        <p:spPr>
          <a:xfrm>
            <a:off x="694944" y="5509260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59536" y="5404104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多国法规清单持续补充交付与归类口径答疑</a:t>
            </a:r>
            <a:endParaRPr lang="en-US" sz="1150" dirty="0"/>
          </a:p>
        </p:txBody>
      </p:sp>
      <p:pic>
        <p:nvPicPr>
          <p:cNvPr id="28" name="Image 1" descr="/tmp/pptx_work/icons/se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5728" y="2331720"/>
            <a:ext cx="384048" cy="384048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5629504" y="2313432"/>
            <a:ext cx="3727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月报分发与内容营销支持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5135728" y="2788920"/>
            <a:ext cx="4221328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135728" y="291693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154016" y="296265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3" name="Shape 29"/>
          <p:cNvSpPr/>
          <p:nvPr/>
        </p:nvSpPr>
        <p:spPr>
          <a:xfrm>
            <a:off x="5282032" y="310438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5446624" y="299923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录制【有问必答】视频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5135728" y="346557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154016" y="351129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7" name="Shape 33"/>
          <p:cNvSpPr/>
          <p:nvPr/>
        </p:nvSpPr>
        <p:spPr>
          <a:xfrm>
            <a:off x="5282032" y="365302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5446624" y="354787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「汽车制造」系列推广文章周更审阅(8-9月共9篇)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5135728" y="401421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5154016" y="405993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1" name="Shape 37"/>
          <p:cNvSpPr/>
          <p:nvPr/>
        </p:nvSpPr>
        <p:spPr>
          <a:xfrm>
            <a:off x="5282032" y="420166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5446624" y="409651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2026/1738 循环设计法规直播内容制作支持(大纲/PPT)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5135728" y="456285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154016" y="460857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5" name="Shape 41"/>
          <p:cNvSpPr/>
          <p:nvPr/>
        </p:nvSpPr>
        <p:spPr>
          <a:xfrm>
            <a:off x="5282032" y="475030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46" name="Text 42"/>
          <p:cNvSpPr txBox="1"/>
          <p:nvPr/>
        </p:nvSpPr>
        <p:spPr>
          <a:xfrm>
            <a:off x="5446624" y="464515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法规月报按时分发至汽研客户并跟进反馈</a:t>
            </a:r>
            <a:endParaRPr lang="en-US" sz="1150" dirty="0"/>
          </a:p>
        </p:txBody>
      </p:sp>
      <p:sp>
        <p:nvSpPr>
          <p:cNvPr id="47" name="Shape 43"/>
          <p:cNvSpPr/>
          <p:nvPr/>
        </p:nvSpPr>
        <p:spPr>
          <a:xfrm>
            <a:off x="5135728" y="5111496"/>
            <a:ext cx="4221328" cy="448056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5154016" y="5157216"/>
            <a:ext cx="32004" cy="356616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49" name="Shape 45"/>
          <p:cNvSpPr/>
          <p:nvPr/>
        </p:nvSpPr>
        <p:spPr>
          <a:xfrm>
            <a:off x="5282032" y="5298948"/>
            <a:ext cx="54864" cy="54864"/>
          </a:xfrm>
          <a:prstGeom prst="ellipse">
            <a:avLst/>
          </a:prstGeom>
          <a:solidFill>
            <a:srgbClr val="FF6600"/>
          </a:solidFill>
          <a:ln/>
        </p:spPr>
      </p:sp>
      <p:sp>
        <p:nvSpPr>
          <p:cNvPr id="50" name="Text 46"/>
          <p:cNvSpPr txBox="1"/>
          <p:nvPr/>
        </p:nvSpPr>
        <p:spPr>
          <a:xfrm>
            <a:off x="5446624" y="5193792"/>
            <a:ext cx="38007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月报 Spotlight 专题内容策划与选题调整</a:t>
            </a:r>
            <a:endParaRPr lang="en-US" sz="1150" dirty="0"/>
          </a:p>
        </p:txBody>
      </p:sp>
      <p:sp>
        <p:nvSpPr>
          <p:cNvPr id="51" name="Shape 47"/>
          <p:cNvSpPr/>
          <p:nvPr/>
        </p:nvSpPr>
        <p:spPr>
          <a:xfrm>
            <a:off x="4952848" y="2423160"/>
            <a:ext cx="0" cy="388620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91640"/>
            <a:ext cx="8808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第四部分 · 10月工作计划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47672"/>
            <a:ext cx="8808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636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10月工作计划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097280" cy="0"/>
          </a:xfrm>
          <a:prstGeom prst="line">
            <a:avLst/>
          </a:prstGeom>
          <a:noFill/>
          <a:ln w="31750">
            <a:solidFill>
              <a:srgbClr val="FF66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331720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2368296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7" name="Image 0" descr="/tmp/pptx_work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423160"/>
            <a:ext cx="329184" cy="32918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88720" y="2331720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编制 9 月《法规雷达》月报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2953512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66928" y="2990088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11" name="Image 1" descr="/tmp/pptx_work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3044952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88720" y="2953512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每日法规监测常态化维护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3575304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66928" y="3611880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15" name="Image 2" descr="/tmp/pptx_work/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3666744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188720" y="3575304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E-mark 认证合规工具持续迭代维护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548640" y="4197096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566928" y="4233672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19" name="Image 3" descr="/tmp/pptx_work/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4288536"/>
            <a:ext cx="329184" cy="32918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188720" y="4197096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推进汽研客户法规数据需求对接与交付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48640" y="4818888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566928" y="4855464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23" name="Image 4" descr="/tmp/pptx_work/icons/chec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" y="4910328"/>
            <a:ext cx="329184" cy="329184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188720" y="4818888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配合 Q4 海外法规监测季度总结</a:t>
            </a:r>
            <a:endParaRPr lang="en-US" sz="1150" dirty="0"/>
          </a:p>
        </p:txBody>
      </p:sp>
      <p:sp>
        <p:nvSpPr>
          <p:cNvPr id="25" name="Shape 18"/>
          <p:cNvSpPr/>
          <p:nvPr/>
        </p:nvSpPr>
        <p:spPr>
          <a:xfrm>
            <a:off x="548640" y="5440680"/>
            <a:ext cx="8808415" cy="512064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566928" y="5477256"/>
            <a:ext cx="32004" cy="438912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27" name="Image 5" descr="/tmp/pptx_work/icons/chec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" y="5532120"/>
            <a:ext cx="329184" cy="32918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188720" y="5440680"/>
            <a:ext cx="7985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6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汽车制造系列推广文章持续审阅与内容支持</a:t>
            </a:r>
            <a:endParaRPr lang="en-US" sz="1150" dirty="0"/>
          </a:p>
        </p:txBody>
      </p:sp>
      <p:sp>
        <p:nvSpPr>
          <p:cNvPr id="29" name="Shape 21"/>
          <p:cNvSpPr/>
          <p:nvPr/>
        </p:nvSpPr>
        <p:spPr>
          <a:xfrm>
            <a:off x="0" y="6803136"/>
            <a:ext cx="9905695" cy="54864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8991295" y="6510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6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2026-09-23T03:09:49Z</dcterms:created>
  <dcterms:modified xsi:type="dcterms:W3CDTF">2026-09-23T03:09:49Z</dcterms:modified>
</cp:coreProperties>
</file>